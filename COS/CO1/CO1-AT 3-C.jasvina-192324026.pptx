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224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Raw Feature Scale (illustrative)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Scaling (0-120k)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Age</c:v>
                </c:pt>
                <c:pt idx="1">
                  <c:v>Income</c:v>
                </c:pt>
                <c:pt idx="2">
                  <c:v>Score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120000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CC-4C81-818F-262833306A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Scaled Feature Range [0-1]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After Min-Max Scaling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Age</c:v>
                </c:pt>
                <c:pt idx="1">
                  <c:v>Income</c:v>
                </c:pt>
                <c:pt idx="2">
                  <c:v>Score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0.45</c:v>
                </c:pt>
                <c:pt idx="1">
                  <c:v>0.42</c:v>
                </c:pt>
                <c:pt idx="2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15-4466-BAA8-53A7411333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b"/>
        <c:majorGridlines>
          <c:spPr>
            <a:ln w="12700" cap="flat">
              <a:solidFill>
                <a:srgbClr val="E5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 model output</c:v>
                </c:pt>
              </c:strCache>
            </c:strRef>
          </c:tx>
          <c:spPr>
            <a:ln w="28575" cap="flat">
              <a:solidFill>
                <a:srgbClr val="8FB9CE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8FB9CE"/>
              </a:solidFill>
              <a:ln w="9525" cap="flat">
                <a:solidFill>
                  <a:srgbClr val="8FB9CE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101</c:v>
                </c:pt>
                <c:pt idx="1">
                  <c:v>108</c:v>
                </c:pt>
                <c:pt idx="2">
                  <c:v>100</c:v>
                </c:pt>
                <c:pt idx="3">
                  <c:v>112</c:v>
                </c:pt>
                <c:pt idx="4">
                  <c:v>103</c:v>
                </c:pt>
                <c:pt idx="5">
                  <c:v>115</c:v>
                </c:pt>
                <c:pt idx="6">
                  <c:v>106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383-46C1-B5E3-43FF42A7EDE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Smoothed (refined)</c:v>
                </c:pt>
              </c:strCache>
            </c:strRef>
          </c:tx>
          <c:spPr>
            <a:ln w="28575" cap="flat">
              <a:solidFill>
                <a:srgbClr val="F2A541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101</c:v>
                </c:pt>
                <c:pt idx="1">
                  <c:v>104.5</c:v>
                </c:pt>
                <c:pt idx="2">
                  <c:v>103</c:v>
                </c:pt>
                <c:pt idx="3">
                  <c:v>106.7</c:v>
                </c:pt>
                <c:pt idx="4">
                  <c:v>105</c:v>
                </c:pt>
                <c:pt idx="5">
                  <c:v>110</c:v>
                </c:pt>
                <c:pt idx="6">
                  <c:v>108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383-46C1-B5E3-43FF42A7ED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Precision vs Recall by Threshold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ln w="2540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0.1</c:v>
                </c:pt>
                <c:pt idx="1">
                  <c:v>0.3</c:v>
                </c:pt>
                <c:pt idx="2">
                  <c:v>0.5</c:v>
                </c:pt>
                <c:pt idx="3">
                  <c:v>0.7</c:v>
                </c:pt>
                <c:pt idx="4">
                  <c:v>0.9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0.55000000000000004</c:v>
                </c:pt>
                <c:pt idx="1">
                  <c:v>0.71</c:v>
                </c:pt>
                <c:pt idx="2">
                  <c:v>0.85</c:v>
                </c:pt>
                <c:pt idx="3">
                  <c:v>0.93</c:v>
                </c:pt>
                <c:pt idx="4">
                  <c:v>0.98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A66-4A62-90EF-C46D147339E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ln w="25400" cap="flat">
              <a:solidFill>
                <a:srgbClr val="F2A541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0.1</c:v>
                </c:pt>
                <c:pt idx="1">
                  <c:v>0.3</c:v>
                </c:pt>
                <c:pt idx="2">
                  <c:v>0.5</c:v>
                </c:pt>
                <c:pt idx="3">
                  <c:v>0.7</c:v>
                </c:pt>
                <c:pt idx="4">
                  <c:v>0.9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0.99</c:v>
                </c:pt>
                <c:pt idx="1">
                  <c:v>0.95</c:v>
                </c:pt>
                <c:pt idx="2">
                  <c:v>0.82</c:v>
                </c:pt>
                <c:pt idx="3">
                  <c:v>0.68</c:v>
                </c:pt>
                <c:pt idx="4">
                  <c:v>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A66-4A62-90EF-C46D147339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ROC Curve (illustrative)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guess</c:v>
                </c:pt>
              </c:strCache>
            </c:strRef>
          </c:tx>
          <c:spPr>
            <a:ln w="28575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Sheet1!$A$2:$A$8</c:f>
              <c:numCache>
                <c:formatCode>General</c:formatCode>
                <c:ptCount val="7"/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6BA-4A3B-A9CA-34782E2EB2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5EDF2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5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92324" y="1608881"/>
            <a:ext cx="5266481" cy="722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2A5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MACHINE LEARNING PIPELINE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Preprocessing, Post-Processing &amp; Evaluation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6172200"/>
            <a:ext cx="47815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CHEREDLA JASVINA 192324026)-B.TECH-AI&amp;DS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End-to-End Model Pipeline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2468880" cy="27432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blurRad="76200" dist="25400" dir="5400000" algn="bl" rotWithShape="0">
              <a:srgbClr val="365B77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63040" y="27889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611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data, handle missing values, normalize, select features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352044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273552" y="2468880"/>
            <a:ext cx="2468880" cy="27432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blurRad="76200" dist="25400" dir="5400000" algn="bl" rotWithShape="0">
              <a:srgbClr val="365B77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87952" y="2788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187952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10712" y="3611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56432" y="40690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the learning algorithm on the prepared dataset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42432" y="352044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998464" y="2468880"/>
            <a:ext cx="2468880" cy="27432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blurRad="76200" dist="25400" dir="5400000" algn="bl" rotWithShape="0">
              <a:srgbClr val="365B77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12864" y="27889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912864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135624" y="3611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81344" y="40690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results, tune thresholds, visualize outputs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67344" y="352044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723376" y="2468880"/>
            <a:ext cx="2468880" cy="27432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blurRad="76200" dist="25400" dir="5400000" algn="bl" rotWithShape="0">
              <a:srgbClr val="365B77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637776" y="2788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9637776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860536" y="3611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906256" y="40690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with metrics; validate using cross-validation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errors, duplicates, and inconsistencies before they distort the model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7FAFC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27685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76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14884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46888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or near-identical records are dropped so they don't bias frequency-based learning.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97880" y="205740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7FAFC"/>
          </a:solidFill>
          <a:ln/>
        </p:spPr>
      </p:sp>
      <p:sp>
        <p:nvSpPr>
          <p:cNvPr id="12" name="Shape 10"/>
          <p:cNvSpPr/>
          <p:nvPr/>
        </p:nvSpPr>
        <p:spPr>
          <a:xfrm>
            <a:off x="6080760" y="227685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080760" y="2276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20840" y="214884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structural errors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20840" y="246888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typos, inconsistent casing, and category labels (e.g. "NY" vs "New York").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310128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7FAFC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52958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340156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outliers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372160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extreme values via IQR or Z-score and remove or cap entries that are clearly erroneous.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97880" y="3310128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7FAFC"/>
          </a:solidFill>
          <a:ln/>
        </p:spPr>
      </p:sp>
      <p:sp>
        <p:nvSpPr>
          <p:cNvPr id="22" name="Shape 20"/>
          <p:cNvSpPr/>
          <p:nvPr/>
        </p:nvSpPr>
        <p:spPr>
          <a:xfrm>
            <a:off x="6080760" y="352958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08076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20840" y="340156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data types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20840" y="372160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dates, currencies, and categorical codes into consistent, model-ready formats.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Customer Records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28032"/>
          <a:ext cx="7863840" cy="1389888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York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7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York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→ removed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"ny"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typo + outlier 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Missing Values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in data must be treated deliberately — deletion or imputation, chosen by context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03120"/>
            <a:ext cx="246888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2677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rows/columns with excessive missing data (use when missingness is random and small).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21031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2103120"/>
            <a:ext cx="246888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22677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/ Median Imputation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83280" y="2743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numeric gaps with the column's mean or median — fast, works for MCAR data.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21031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2103120"/>
            <a:ext cx="246888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22677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Imputation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080760" y="2743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categorical gaps with the most frequent category.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41080" y="21031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41080" y="2103120"/>
            <a:ext cx="246888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8778240" y="22677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/ Model-based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78240" y="2743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missing values from similar records using k-Nearest Neighbors or regression.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Imputing a "Salary" Column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62272"/>
          <a:ext cx="7863840" cy="1737360"/>
        </p:xfrm>
        <a:graphic>
          <a:graphicData uri="http://schemas.openxmlformats.org/drawingml/2006/table">
            <a:tbl>
              <a:tblPr/>
              <a:tblGrid>
                <a:gridCol w="2621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1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1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 (Raw)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Median Imputation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7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51,000  (median)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7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51,000  (median)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Normalization &amp; Scaling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Rescaling features to a common range so no variable dominates due to its units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7FAF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128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Normalization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5420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x' = (x - min) / (max - min)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28529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Rescales values into [0, 1]. Sensitive to outliers.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7FAF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6301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Standardization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9593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x' = (x - μ) / σ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42702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 data at mean 0, std-dev 1. Preferred for models assuming Gaussian-like features.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5029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Scaling an "Income" feature (min 20k, max 120k)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321808"/>
          <a:ext cx="5120640" cy="14173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Income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Min-Max Scaled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989320" y="2103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on Feature Range</a:t>
            </a:r>
            <a:endParaRPr lang="en-US" sz="12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989320" y="2423160"/>
          <a:ext cx="512064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hart 1"/>
          <p:cNvGraphicFramePr/>
          <p:nvPr/>
        </p:nvGraphicFramePr>
        <p:xfrm>
          <a:off x="5989320" y="4434840"/>
          <a:ext cx="512064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Text 15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variables that matter improves accuracy, speed, and interpretability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65960" y="22860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196596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Methods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features using statistical tests independent of the model — correlation, Chi-square, mutual information.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60520" y="205740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77840" y="22860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5778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14" name="Text 12"/>
          <p:cNvSpPr/>
          <p:nvPr/>
        </p:nvSpPr>
        <p:spPr>
          <a:xfrm>
            <a:off x="434340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Methods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389120" y="31089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feature subsets by training and testing the model repeatedly — e.g. Recursive Feature Elimination.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0" y="205740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89720" y="22860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91897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19" name="Text 17"/>
          <p:cNvSpPr/>
          <p:nvPr/>
        </p:nvSpPr>
        <p:spPr>
          <a:xfrm>
            <a:off x="795528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Methods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001000" y="31089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happens during training itself — e.g. Lasso (L1) regularization, tree-based feature importance.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Predicting House Price (12 raw features → 5 selected)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53712"/>
          <a:ext cx="10607040" cy="1755648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 with Price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Square footage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7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bedrooms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7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Owner's favorite color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Zip code (location)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7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 ID 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Refinement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up raw model outputs so they are usable and trustworthy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0848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241401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moving averages or exponential smoothing to noisy sequential predictions (e.g. time-series forecasts).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9535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328269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multiple models' outputs (voting, averaging, stacking) to reduce variance and improve robustness.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8221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calibration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415137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predicted probabilities (e.g. Platt scaling, isotonic regression) so confidence scores reflect true likelihood.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4690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correction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502005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domain constraints to outputs — e.g. clip a predicted age to a valid range, or discard impossible label combinations.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2103120"/>
            <a:ext cx="5394960" cy="3840480"/>
          </a:xfrm>
          <a:prstGeom prst="roundRect">
            <a:avLst>
              <a:gd name="adj" fmla="val 2381"/>
            </a:avLst>
          </a:prstGeom>
          <a:solidFill>
            <a:srgbClr val="F7FAFC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Stock Price Forecast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26517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day-ahead model outputs noisy raw predictions. Post-processing applies a 3-day moving average before the forecast is shown to users.</a:t>
            </a:r>
            <a:endParaRPr lang="en-US" sz="11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6400800" y="3337560"/>
          <a:ext cx="484632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 24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Tuning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probability cutoff that turns scores into decisions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21208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860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classifiers output a probability, not a label. The default cutoff (0.5) is rarely optimal:
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Lower threshold → catches more positives, but raises false alarms
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Higher threshold → fewer false alarms, but misses more true cases
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Optimal point is chosen using the ROC curve, Precision-Recall curve, or business cost of each error type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35040" y="2103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Spam Email Filter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2514600"/>
          <a:ext cx="5532120" cy="137160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spam caught, more false flags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default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few false flags, misses spam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Chart 0"/>
          <p:cNvGraphicFramePr/>
          <p:nvPr/>
        </p:nvGraphicFramePr>
        <p:xfrm>
          <a:off x="6035040" y="4114800"/>
          <a:ext cx="553212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9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 for Interpretation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numeric outputs into visuals stakeholders can act 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23160"/>
          <a:ext cx="5120640" cy="1417320"/>
        </p:xfrm>
        <a:graphic>
          <a:graphicData uri="http://schemas.openxmlformats.org/drawingml/2006/table">
            <a:tbl>
              <a:tblPr/>
              <a:tblGrid>
                <a:gridCol w="17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Spam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Not Spam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Spam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= 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 = 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Not Spam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=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 = 140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&amp; ROC curves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44805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the trade-off across all thresholds at once — the area under the curve (AUC) summarizes overall discriminative power in one number.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989320" y="2103120"/>
          <a:ext cx="548640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8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and F1-score — measured from the confusion matrix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94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5786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(TP+TN) / Total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9260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share of correct predictions. Misleading on imbalanced data.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64408" y="205740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2194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01568" y="25786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(TP+FP)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01568" y="29260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predicted positives, how many were correct. Matters when false alarms are costly.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0176" y="205740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17336" y="2194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17336" y="25786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(TP+FN)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17336" y="29260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positives, how many were caught. Matters when missed cases are costly.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95944" y="205740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33104" y="2194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33104" y="25786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× (P × R)/(P + R)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33104" y="29260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and recall — a single balanced score.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251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Spam Filter (46 TP, 8 FN, 6 FP, 140 TN)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53712"/>
          <a:ext cx="10607040" cy="14630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(46+140) / 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 / (46+6)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 / (46+8)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2×(0.88×0.85)/(0.88+0.85)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Cross-Validation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on multiple data splits to confirm the model generalizes beyond one lucky split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Cross-Validation (k = 5)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1362456" cy="502920"/>
          </a:xfrm>
          <a:prstGeom prst="rect">
            <a:avLst/>
          </a:prstGeom>
          <a:solidFill>
            <a:srgbClr val="F2A5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6888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65960" y="2468880"/>
            <a:ext cx="1362456" cy="502920"/>
          </a:xfrm>
          <a:prstGeom prst="rect">
            <a:avLst/>
          </a:prstGeom>
          <a:solidFill>
            <a:srgbClr val="CFE8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246888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1362456" cy="502920"/>
          </a:xfrm>
          <a:prstGeom prst="rect">
            <a:avLst/>
          </a:prstGeom>
          <a:solidFill>
            <a:srgbClr val="CFE8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46888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00600" y="2468880"/>
            <a:ext cx="1362456" cy="502920"/>
          </a:xfrm>
          <a:prstGeom prst="rect">
            <a:avLst/>
          </a:prstGeom>
          <a:solidFill>
            <a:srgbClr val="CFE8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46888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2468880"/>
            <a:ext cx="1362456" cy="502920"/>
          </a:xfrm>
          <a:prstGeom prst="rect">
            <a:avLst/>
          </a:prstGeom>
          <a:solidFill>
            <a:srgbClr val="CFE8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46888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26680" y="24688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081528"/>
            <a:ext cx="1362456" cy="502920"/>
          </a:xfrm>
          <a:prstGeom prst="rect">
            <a:avLst/>
          </a:prstGeom>
          <a:solidFill>
            <a:srgbClr val="CFE8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81528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965960" y="3081528"/>
            <a:ext cx="1362456" cy="502920"/>
          </a:xfrm>
          <a:prstGeom prst="rect">
            <a:avLst/>
          </a:prstGeom>
          <a:solidFill>
            <a:srgbClr val="F2A5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65960" y="3081528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83280" y="3081528"/>
            <a:ext cx="1362456" cy="502920"/>
          </a:xfrm>
          <a:prstGeom prst="rect">
            <a:avLst/>
          </a:prstGeom>
          <a:solidFill>
            <a:srgbClr val="CFE8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081528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3081528"/>
            <a:ext cx="1362456" cy="502920"/>
          </a:xfrm>
          <a:prstGeom prst="rect">
            <a:avLst/>
          </a:prstGeom>
          <a:solidFill>
            <a:srgbClr val="CFE8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081528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0" y="3081528"/>
            <a:ext cx="1362456" cy="502920"/>
          </a:xfrm>
          <a:prstGeom prst="rect">
            <a:avLst/>
          </a:prstGeom>
          <a:solidFill>
            <a:srgbClr val="CFE8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081528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26680" y="308152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694176"/>
            <a:ext cx="1362456" cy="502920"/>
          </a:xfrm>
          <a:prstGeom prst="rect">
            <a:avLst/>
          </a:prstGeom>
          <a:solidFill>
            <a:srgbClr val="CFE8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694176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965960" y="3694176"/>
            <a:ext cx="1362456" cy="502920"/>
          </a:xfrm>
          <a:prstGeom prst="rect">
            <a:avLst/>
          </a:prstGeom>
          <a:solidFill>
            <a:srgbClr val="CFE8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65960" y="3694176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83280" y="3694176"/>
            <a:ext cx="1362456" cy="502920"/>
          </a:xfrm>
          <a:prstGeom prst="rect">
            <a:avLst/>
          </a:prstGeom>
          <a:solidFill>
            <a:srgbClr val="F2A5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3694176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0600" y="3694176"/>
            <a:ext cx="1362456" cy="502920"/>
          </a:xfrm>
          <a:prstGeom prst="rect">
            <a:avLst/>
          </a:prstGeom>
          <a:solidFill>
            <a:srgbClr val="CFE8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694176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17920" y="3694176"/>
            <a:ext cx="1362456" cy="502920"/>
          </a:xfrm>
          <a:prstGeom prst="rect">
            <a:avLst/>
          </a:prstGeom>
          <a:solidFill>
            <a:srgbClr val="CFE8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3694176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26680" y="369417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4306824"/>
            <a:ext cx="1362456" cy="502920"/>
          </a:xfrm>
          <a:prstGeom prst="rect">
            <a:avLst/>
          </a:prstGeom>
          <a:solidFill>
            <a:srgbClr val="CFE8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306824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965960" y="4306824"/>
            <a:ext cx="1362456" cy="502920"/>
          </a:xfrm>
          <a:prstGeom prst="rect">
            <a:avLst/>
          </a:prstGeom>
          <a:solidFill>
            <a:srgbClr val="CFE8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65960" y="4306824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383280" y="4306824"/>
            <a:ext cx="1362456" cy="502920"/>
          </a:xfrm>
          <a:prstGeom prst="rect">
            <a:avLst/>
          </a:prstGeom>
          <a:solidFill>
            <a:srgbClr val="CFE8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83280" y="4306824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00600" y="4306824"/>
            <a:ext cx="1362456" cy="502920"/>
          </a:xfrm>
          <a:prstGeom prst="rect">
            <a:avLst/>
          </a:prstGeom>
          <a:solidFill>
            <a:srgbClr val="F2A5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4306824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217920" y="4306824"/>
            <a:ext cx="1362456" cy="502920"/>
          </a:xfrm>
          <a:prstGeom prst="rect">
            <a:avLst/>
          </a:prstGeom>
          <a:solidFill>
            <a:srgbClr val="CFE8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4306824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726680" y="430682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4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48640" y="4919472"/>
            <a:ext cx="1362456" cy="502920"/>
          </a:xfrm>
          <a:prstGeom prst="rect">
            <a:avLst/>
          </a:prstGeom>
          <a:solidFill>
            <a:srgbClr val="CFE8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4919472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965960" y="4919472"/>
            <a:ext cx="1362456" cy="502920"/>
          </a:xfrm>
          <a:prstGeom prst="rect">
            <a:avLst/>
          </a:prstGeom>
          <a:solidFill>
            <a:srgbClr val="CFE8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965960" y="4919472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383280" y="4919472"/>
            <a:ext cx="1362456" cy="502920"/>
          </a:xfrm>
          <a:prstGeom prst="rect">
            <a:avLst/>
          </a:prstGeom>
          <a:solidFill>
            <a:srgbClr val="CFE8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83280" y="4919472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800600" y="4919472"/>
            <a:ext cx="1362456" cy="502920"/>
          </a:xfrm>
          <a:prstGeom prst="rect">
            <a:avLst/>
          </a:prstGeom>
          <a:solidFill>
            <a:srgbClr val="CFE8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4919472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217920" y="4919472"/>
            <a:ext cx="1362456" cy="502920"/>
          </a:xfrm>
          <a:prstGeom prst="rect">
            <a:avLst/>
          </a:prstGeom>
          <a:solidFill>
            <a:srgbClr val="F2A5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17920" y="4919472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726680" y="49194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5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548640" y="56235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round trains on 4 folds and tests on the 1 held-out fold — every data point is used for testing exactly once.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877824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Accuracy per Fold</a:t>
            </a:r>
            <a:endParaRPr lang="en-US" sz="12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778240" y="2423160"/>
          <a:ext cx="2880360" cy="2560320"/>
        </p:xfrm>
        <a:graphic>
          <a:graphicData uri="http://schemas.openxmlformats.org/drawingml/2006/table">
            <a:tbl>
              <a:tblPr/>
              <a:tblGrid>
                <a:gridCol w="1440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0.918 ± 0.017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5" name="Shape 62"/>
          <p:cNvSpPr/>
          <p:nvPr/>
        </p:nvSpPr>
        <p:spPr>
          <a:xfrm>
            <a:off x="548640" y="5623560"/>
            <a:ext cx="7955280" cy="685800"/>
          </a:xfrm>
          <a:prstGeom prst="roundRect">
            <a:avLst>
              <a:gd name="adj" fmla="val 10667"/>
            </a:avLst>
          </a:prstGeom>
          <a:solidFill>
            <a:srgbClr val="CFE8F3"/>
          </a:solidFill>
          <a:ln/>
        </p:spPr>
      </p:sp>
      <p:sp>
        <p:nvSpPr>
          <p:cNvPr id="66" name="Text 63"/>
          <p:cNvSpPr/>
          <p:nvPr/>
        </p:nvSpPr>
        <p:spPr>
          <a:xfrm>
            <a:off x="777240" y="566928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a single train/test split can over- or under-estimate performance by chance. Averaging across k folds gives a more robust, generalizable estimate — and its spread (± std-dev) shows model stability.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Effective Implementation, End to End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10698480" cy="1143000"/>
          </a:xfrm>
          <a:prstGeom prst="roundRect">
            <a:avLst>
              <a:gd name="adj" fmla="val 6400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221992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221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28800" y="210312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828800" y="249631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data, impute missing values, normalize scales, and select informative features to boost model efficiency.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3337560"/>
            <a:ext cx="10698480" cy="1143000"/>
          </a:xfrm>
          <a:prstGeom prst="roundRect">
            <a:avLst>
              <a:gd name="adj" fmla="val 6400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60120" y="3593592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593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828800" y="347472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828800" y="386791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raw outputs, tune decision thresholds, and visualize results for clearer interpretation.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4709160"/>
            <a:ext cx="10698480" cy="1143000"/>
          </a:xfrm>
          <a:prstGeom prst="roundRect">
            <a:avLst>
              <a:gd name="adj" fmla="val 6400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60120" y="4965192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965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828800" y="484632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828800" y="523951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accuracy, precision, recall, and F1-score together with k-fold cross-validation to confirm robustness and generalizability.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1270</Words>
  <Application>Microsoft Office PowerPoint</Application>
  <PresentationFormat>Widescreen</PresentationFormat>
  <Paragraphs>303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jasvinachowdary@outlook.com</cp:lastModifiedBy>
  <cp:revision>2</cp:revision>
  <dcterms:created xsi:type="dcterms:W3CDTF">2026-08-01T03:28:23Z</dcterms:created>
  <dcterms:modified xsi:type="dcterms:W3CDTF">2026-08-01T05:06:26Z</dcterms:modified>
</cp:coreProperties>
</file>